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B61BEF0D-F0BB-DE4B-95CE-6DB70DBA9567}" type="datetimeFigureOut">
              <a:rPr lang="en-US" dirty="0"/>
              <a:pPr/>
              <a:t>11/13/2024</a:t>
            </a:fld>
            <a:endParaRPr lang="en-US" dirty="0"/>
          </a:p>
        </p:txBody>
      </p:sp>
      <p:sp>
        <p:nvSpPr>
          <p:cNvPr id="5" name="Footer Placeholder 4"/>
          <p:cNvSpPr>
            <a:spLocks noGrp="1"/>
          </p:cNvSpPr>
          <p:nvPr>
            <p:ph type="ftr" sz="quarter" idx="11"/>
          </p:nvPr>
        </p:nvSpPr>
        <p:spPr>
          <a:xfrm>
            <a:off x="2692397" y="5037663"/>
            <a:ext cx="5214635" cy="279400"/>
          </a:xfrm>
        </p:spPr>
        <p:txBody>
          <a:bodyPr/>
          <a:lstStyle/>
          <a:p>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D57F1E4F-1CFF-5643-939E-217C01CDF565}" type="slidenum">
              <a:rPr lang="en-US" dirty="0"/>
              <a:pPr/>
              <a:t>‹#›</a:t>
            </a:fld>
            <a:endParaRPr lang="en-US"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647F38-B617-4D2F-AE0A-013F0C4D2C57}" type="datetimeFigureOut">
              <a:rPr lang="en-US" dirty="0"/>
              <a:t>11/13/2024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97799C9-84D9-46D2-A11E-BCF8A720529D}"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dirty="0"/>
              <a:t>11/13/2024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11/13/2024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11/13/2024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11/13/2024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11/13/2024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11/13/2024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11/13/2024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11/13/2024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11/13/2024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11/13/2024</a:t>
            </a:fld>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8" r:id="rId2"/>
    <p:sldLayoutId id="2147483651" r:id="rId3"/>
    <p:sldLayoutId id="2147483669"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C0125D-F3D3-A120-F3DF-625054C728EA}"/>
              </a:ext>
            </a:extLst>
          </p:cNvPr>
          <p:cNvSpPr>
            <a:spLocks noGrp="1"/>
          </p:cNvSpPr>
          <p:nvPr>
            <p:ph type="ctrTitle"/>
          </p:nvPr>
        </p:nvSpPr>
        <p:spPr/>
        <p:txBody>
          <a:bodyPr/>
          <a:lstStyle/>
          <a:p>
            <a:r>
              <a:rPr lang="en-IN"/>
              <a:t>LAW AND ORDER AUTOMATION</a:t>
            </a:r>
          </a:p>
        </p:txBody>
      </p:sp>
      <p:sp>
        <p:nvSpPr>
          <p:cNvPr id="3" name="Subtitle 2">
            <a:extLst>
              <a:ext uri="{FF2B5EF4-FFF2-40B4-BE49-F238E27FC236}">
                <a16:creationId xmlns:a16="http://schemas.microsoft.com/office/drawing/2014/main" id="{0CB8260B-6B28-99F1-3C37-0CF92B8D4BDE}"/>
              </a:ext>
            </a:extLst>
          </p:cNvPr>
          <p:cNvSpPr>
            <a:spLocks noGrp="1"/>
          </p:cNvSpPr>
          <p:nvPr>
            <p:ph type="subTitle" idx="1"/>
          </p:nvPr>
        </p:nvSpPr>
        <p:spPr/>
        <p:txBody>
          <a:bodyPr>
            <a:normAutofit/>
          </a:bodyPr>
          <a:lstStyle/>
          <a:p>
            <a:pPr algn="r">
              <a:lnSpc>
                <a:spcPct val="110000"/>
              </a:lnSpc>
            </a:pPr>
            <a:r>
              <a:rPr lang="en-IN" sz="1600"/>
              <a:t>P. Harshavardhan,</a:t>
            </a:r>
          </a:p>
          <a:p>
            <a:pPr algn="r">
              <a:lnSpc>
                <a:spcPct val="110000"/>
              </a:lnSpc>
            </a:pPr>
            <a:r>
              <a:rPr lang="en-IN" sz="1600"/>
              <a:t> K. Navya,</a:t>
            </a:r>
          </a:p>
          <a:p>
            <a:pPr algn="r">
              <a:lnSpc>
                <a:spcPct val="110000"/>
              </a:lnSpc>
            </a:pPr>
            <a:r>
              <a:rPr lang="en-IN" sz="1600"/>
              <a:t> T. Eshwar</a:t>
            </a:r>
          </a:p>
          <a:p>
            <a:pPr algn="r"/>
            <a:endParaRPr lang="en-IN" sz="1600"/>
          </a:p>
        </p:txBody>
      </p:sp>
    </p:spTree>
    <p:extLst>
      <p:ext uri="{BB962C8B-B14F-4D97-AF65-F5344CB8AC3E}">
        <p14:creationId xmlns:p14="http://schemas.microsoft.com/office/powerpoint/2010/main" val="31561313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5F6253-29F0-DB0F-E953-61B1332999C0}"/>
              </a:ext>
            </a:extLst>
          </p:cNvPr>
          <p:cNvSpPr>
            <a:spLocks noGrp="1"/>
          </p:cNvSpPr>
          <p:nvPr>
            <p:ph type="title"/>
          </p:nvPr>
        </p:nvSpPr>
        <p:spPr/>
        <p:txBody>
          <a:bodyPr/>
          <a:lstStyle/>
          <a:p>
            <a:pPr algn="l"/>
            <a:r>
              <a:rPr lang="en-IN"/>
              <a:t>Objective:</a:t>
            </a:r>
          </a:p>
        </p:txBody>
      </p:sp>
      <p:sp>
        <p:nvSpPr>
          <p:cNvPr id="3" name="Content Placeholder 2">
            <a:extLst>
              <a:ext uri="{FF2B5EF4-FFF2-40B4-BE49-F238E27FC236}">
                <a16:creationId xmlns:a16="http://schemas.microsoft.com/office/drawing/2014/main" id="{E513D9B6-3CDB-7E43-50CB-9E3CFE02E391}"/>
              </a:ext>
            </a:extLst>
          </p:cNvPr>
          <p:cNvSpPr>
            <a:spLocks noGrp="1"/>
          </p:cNvSpPr>
          <p:nvPr>
            <p:ph idx="1"/>
          </p:nvPr>
        </p:nvSpPr>
        <p:spPr/>
        <p:txBody>
          <a:bodyPr>
            <a:normAutofit/>
          </a:bodyPr>
          <a:lstStyle/>
          <a:p>
            <a:r>
              <a:rPr lang="en-IN" sz="3200">
                <a:effectLst/>
                <a:latin typeface="Calibri" panose="020F0502020204030204" pitchFamily="34" charset="0"/>
                <a:ea typeface="Calibri" panose="020F0502020204030204" pitchFamily="34" charset="0"/>
                <a:cs typeface="Times New Roman" panose="02020603050405020304" pitchFamily="18" charset="0"/>
              </a:rPr>
              <a:t>To deliver next generation police and law enforcement reporting tools, and setting up intelligence platforms that agencies use to take incoming incident reports, lessen employee resources and allow these enforcement agencies to reallocate resources to much needed community areas </a:t>
            </a:r>
            <a:endParaRPr lang="en-IN" sz="4000"/>
          </a:p>
        </p:txBody>
      </p:sp>
    </p:spTree>
    <p:extLst>
      <p:ext uri="{BB962C8B-B14F-4D97-AF65-F5344CB8AC3E}">
        <p14:creationId xmlns:p14="http://schemas.microsoft.com/office/powerpoint/2010/main" val="18743273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297D00-4546-9008-9703-5E3E59577F63}"/>
              </a:ext>
            </a:extLst>
          </p:cNvPr>
          <p:cNvSpPr>
            <a:spLocks noGrp="1"/>
          </p:cNvSpPr>
          <p:nvPr>
            <p:ph type="title"/>
          </p:nvPr>
        </p:nvSpPr>
        <p:spPr/>
        <p:txBody>
          <a:bodyPr>
            <a:normAutofit/>
          </a:bodyPr>
          <a:lstStyle/>
          <a:p>
            <a:pPr algn="l"/>
            <a:r>
              <a:rPr lang="en-IN" sz="3600">
                <a:effectLst/>
                <a:latin typeface="Calibri" panose="020F0502020204030204" pitchFamily="34" charset="0"/>
                <a:ea typeface="Calibri" panose="020F0502020204030204" pitchFamily="34" charset="0"/>
                <a:cs typeface="Times New Roman" panose="02020603050405020304" pitchFamily="18" charset="0"/>
              </a:rPr>
              <a:t>Functional Requirements :</a:t>
            </a:r>
            <a:endParaRPr lang="en-IN" sz="7200"/>
          </a:p>
        </p:txBody>
      </p:sp>
      <p:sp>
        <p:nvSpPr>
          <p:cNvPr id="3" name="Content Placeholder 2">
            <a:extLst>
              <a:ext uri="{FF2B5EF4-FFF2-40B4-BE49-F238E27FC236}">
                <a16:creationId xmlns:a16="http://schemas.microsoft.com/office/drawing/2014/main" id="{5CCF4D08-180F-6F53-6811-DF9C870DE339}"/>
              </a:ext>
            </a:extLst>
          </p:cNvPr>
          <p:cNvSpPr>
            <a:spLocks noGrp="1"/>
          </p:cNvSpPr>
          <p:nvPr>
            <p:ph idx="1"/>
          </p:nvPr>
        </p:nvSpPr>
        <p:spPr/>
        <p:txBody>
          <a:bodyPr>
            <a:normAutofit fontScale="92500" lnSpcReduction="10000"/>
          </a:bodyPr>
          <a:lstStyle/>
          <a:p>
            <a:r>
              <a:rPr lang="en-IN">
                <a:effectLst/>
                <a:latin typeface="Calibri" panose="020F0502020204030204" pitchFamily="34" charset="0"/>
                <a:ea typeface="Calibri" panose="020F0502020204030204" pitchFamily="34" charset="0"/>
                <a:cs typeface="Times New Roman" panose="02020603050405020304" pitchFamily="18" charset="0"/>
              </a:rPr>
              <a:t>1. Administrator should be able to create/edit a virtual police station (PS) which represents a real police station as a first time setup. </a:t>
            </a:r>
          </a:p>
          <a:p>
            <a:r>
              <a:rPr lang="en-IN">
                <a:effectLst/>
                <a:latin typeface="Calibri" panose="020F0502020204030204" pitchFamily="34" charset="0"/>
                <a:ea typeface="Calibri" panose="020F0502020204030204" pitchFamily="34" charset="0"/>
                <a:cs typeface="Times New Roman" panose="02020603050405020304" pitchFamily="18" charset="0"/>
              </a:rPr>
              <a:t>2. Appointing of police officers to a particular police station which is present in a specific zone or to a specific district as a first time setup, he should be transferable at later time. </a:t>
            </a:r>
          </a:p>
          <a:p>
            <a:r>
              <a:rPr lang="en-IN">
                <a:effectLst/>
                <a:latin typeface="Calibri" panose="020F0502020204030204" pitchFamily="34" charset="0"/>
                <a:ea typeface="Calibri" panose="020F0502020204030204" pitchFamily="34" charset="0"/>
                <a:cs typeface="Times New Roman" panose="02020603050405020304" pitchFamily="18" charset="0"/>
              </a:rPr>
              <a:t>3. PS should have areas of control which can be modified at later time.</a:t>
            </a:r>
          </a:p>
          <a:p>
            <a:r>
              <a:rPr lang="en-IN">
                <a:effectLst/>
                <a:latin typeface="Calibri" panose="020F0502020204030204" pitchFamily="34" charset="0"/>
                <a:ea typeface="Calibri" panose="020F0502020204030204" pitchFamily="34" charset="0"/>
                <a:cs typeface="Times New Roman" panose="02020603050405020304" pitchFamily="18" charset="0"/>
              </a:rPr>
              <a:t> 4. Police station has several departments like Law and Order, Women Protection, Cybercrime, Traffic and control, CBI, etc. Separate module for each dept would be needed. </a:t>
            </a:r>
            <a:endParaRPr lang="en-IN" sz="3200"/>
          </a:p>
        </p:txBody>
      </p:sp>
    </p:spTree>
    <p:extLst>
      <p:ext uri="{BB962C8B-B14F-4D97-AF65-F5344CB8AC3E}">
        <p14:creationId xmlns:p14="http://schemas.microsoft.com/office/powerpoint/2010/main" val="40537238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AB0C2C-5F86-2F71-CBB7-0573F1EA5C73}"/>
              </a:ext>
            </a:extLst>
          </p:cNvPr>
          <p:cNvSpPr>
            <a:spLocks noGrp="1"/>
          </p:cNvSpPr>
          <p:nvPr>
            <p:ph idx="1"/>
          </p:nvPr>
        </p:nvSpPr>
        <p:spPr>
          <a:xfrm>
            <a:off x="793955" y="658760"/>
            <a:ext cx="10513141" cy="5358582"/>
          </a:xfrm>
        </p:spPr>
        <p:txBody>
          <a:bodyPr>
            <a:normAutofit/>
          </a:bodyPr>
          <a:lstStyle/>
          <a:p>
            <a:r>
              <a:rPr lang="en-US"/>
              <a:t>5. When a complaint is made it undergoes various processes like FIR, Charge Sheet, Property Seizure, court disposal etc all these activities are performed by a PS. </a:t>
            </a:r>
          </a:p>
          <a:p>
            <a:r>
              <a:rPr lang="en-US"/>
              <a:t>6. Traffic and Control has important part where the Traffic inspector would be filing a charge sheet from a mobile or PDA. </a:t>
            </a:r>
          </a:p>
          <a:p>
            <a:r>
              <a:rPr lang="en-US"/>
              <a:t>7. Maintaining the criminal information state wise/area wise/age wise is mandatory </a:t>
            </a:r>
          </a:p>
          <a:p>
            <a:r>
              <a:rPr lang="en-US"/>
              <a:t>8. Sharing of case details with PS in other states is needed. Note : Other state may use different database and different platform (use of IBM MQ is necessary)</a:t>
            </a:r>
          </a:p>
        </p:txBody>
      </p:sp>
    </p:spTree>
    <p:extLst>
      <p:ext uri="{BB962C8B-B14F-4D97-AF65-F5344CB8AC3E}">
        <p14:creationId xmlns:p14="http://schemas.microsoft.com/office/powerpoint/2010/main" val="12866218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FF5F1AA-E4EE-E263-A8C3-4C4630D753C8}"/>
              </a:ext>
            </a:extLst>
          </p:cNvPr>
          <p:cNvSpPr>
            <a:spLocks noGrp="1"/>
          </p:cNvSpPr>
          <p:nvPr>
            <p:ph idx="1"/>
          </p:nvPr>
        </p:nvSpPr>
        <p:spPr>
          <a:xfrm>
            <a:off x="790268" y="1111590"/>
            <a:ext cx="10611464" cy="5279377"/>
          </a:xfrm>
        </p:spPr>
        <p:txBody>
          <a:bodyPr/>
          <a:lstStyle/>
          <a:p>
            <a:r>
              <a:rPr lang="en-US"/>
              <a:t>9. Communication between officers is mandatory through forum, chat, polls. </a:t>
            </a:r>
          </a:p>
          <a:p>
            <a:r>
              <a:rPr lang="en-US"/>
              <a:t>10.The magistrate should be able to access the case details and provide/deny the arrest warrant. </a:t>
            </a:r>
          </a:p>
          <a:p>
            <a:r>
              <a:rPr lang="en-US"/>
              <a:t>11.Citizens should be able to apply for various licenses like Arms, loud speaker, Hotel/lodge, browsing centre, mass meetings etc., and the officer should be able to approve/reject which will be notified to the applicant via SMS and Mail </a:t>
            </a:r>
          </a:p>
          <a:p>
            <a:r>
              <a:rPr lang="en-US"/>
              <a:t>12.Secured registration of citizens is needed where they need to provide proof of citizenship, which will be cross checked by the police officer of that area.</a:t>
            </a:r>
            <a:endParaRPr lang="en-IN"/>
          </a:p>
          <a:p>
            <a:endParaRPr lang="en-IN"/>
          </a:p>
        </p:txBody>
      </p:sp>
    </p:spTree>
    <p:extLst>
      <p:ext uri="{BB962C8B-B14F-4D97-AF65-F5344CB8AC3E}">
        <p14:creationId xmlns:p14="http://schemas.microsoft.com/office/powerpoint/2010/main" val="1422839746"/>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11</TotalTime>
  <Words>398</Words>
  <Application>Microsoft Office PowerPoint</Application>
  <PresentationFormat>Widescreen</PresentationFormat>
  <Paragraphs>19</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Garamond</vt:lpstr>
      <vt:lpstr>Organic</vt:lpstr>
      <vt:lpstr>LAW AND ORDER AUTOMATION</vt:lpstr>
      <vt:lpstr>Objective:</vt:lpstr>
      <vt:lpstr>Functional Requirements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Podeti Harshavardhan</dc:creator>
  <cp:lastModifiedBy>Podeti Harshavardhan</cp:lastModifiedBy>
  <cp:revision>6</cp:revision>
  <dcterms:created xsi:type="dcterms:W3CDTF">2024-11-06T08:34:49Z</dcterms:created>
  <dcterms:modified xsi:type="dcterms:W3CDTF">2024-11-13T08:11:21Z</dcterms:modified>
</cp:coreProperties>
</file>